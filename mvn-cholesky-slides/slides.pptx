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Hi everyone. Our project is about simulating random vectors that</a:t>
            </a:r>
          </a:p>
          <a:p>
            <a:r>
              <a:t>follow a multivariate normal distribution with a covariance matrix</a:t>
            </a:r>
          </a:p>
          <a:p>
            <a:r>
              <a:t>we choose. The tool that makes it work is the Cholesky decomposition,</a:t>
            </a:r>
          </a:p>
          <a:p>
            <a:r>
              <a:t>and at the end we will play with different covariance structures.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the problem. We will see where correlated</a:t>
            </a:r>
          </a:p>
          <a:p>
            <a:r>
              <a:t>randomness matters, what a computer can give us, what we actually</a:t>
            </a:r>
          </a:p>
          <a:p>
            <a:r>
              <a:t>want, and why the obvious fixes fail.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Before any math, here are three places where correlated randomness</a:t>
            </a:r>
          </a:p>
          <a:p>
            <a:r>
              <a:t>matters. A bank simulating a portfolio underestimates its risk if it</a:t>
            </a:r>
          </a:p>
          <a:p>
            <a:r>
              <a:t>treats the stocks as independent. A random smooth curve is really one</a:t>
            </a:r>
          </a:p>
          <a:p>
            <a:r>
              <a:t>draw from a 60 dimensional normal, and synthetic data is only useful</a:t>
            </a:r>
          </a:p>
          <a:p>
            <a:r>
              <a:t>if it keeps the real correlations. All three need random numbers that</a:t>
            </a:r>
          </a:p>
          <a:p>
            <a:r>
              <a:t>move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Before any math, here are three places where correlated randomness</a:t>
            </a:r>
          </a:p>
          <a:p>
            <a:r>
              <a:t>matters. A bank simulating a portfolio underestimates its risk if it</a:t>
            </a:r>
          </a:p>
          <a:p>
            <a:r>
              <a:t>treats the stocks as independent. A random smooth curve is really one</a:t>
            </a:r>
          </a:p>
          <a:p>
            <a:r>
              <a:t>draw from a 60 dimensional normal, and synthetic data is only useful</a:t>
            </a:r>
          </a:p>
          <a:p>
            <a:r>
              <a:t>if it keeps the real correlations. All three need random numbers that</a:t>
            </a:r>
          </a:p>
          <a:p>
            <a:r>
              <a:t>move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Before any math, here are three places where correlated randomness</a:t>
            </a:r>
          </a:p>
          <a:p>
            <a:r>
              <a:t>matters. A bank simulating a portfolio underestimates its risk if it</a:t>
            </a:r>
          </a:p>
          <a:p>
            <a:r>
              <a:t>treats the stocks as independent. A random smooth curve is really one</a:t>
            </a:r>
          </a:p>
          <a:p>
            <a:r>
              <a:t>draw from a 60 dimensional normal, and synthetic data is only useful</a:t>
            </a:r>
          </a:p>
          <a:p>
            <a:r>
              <a:t>if it keeps the real correlations. All three need random numbers that</a:t>
            </a:r>
          </a:p>
          <a:p>
            <a:r>
              <a:t>move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Before any math, here are three places where correlated randomness</a:t>
            </a:r>
          </a:p>
          <a:p>
            <a:r>
              <a:t>matters. A bank simulating a portfolio underestimates its risk if it</a:t>
            </a:r>
          </a:p>
          <a:p>
            <a:r>
              <a:t>treats the stocks as independent. A random smooth curve is really one</a:t>
            </a:r>
          </a:p>
          <a:p>
            <a:r>
              <a:t>draw from a 60 dimensional normal, and synthetic data is only useful</a:t>
            </a:r>
          </a:p>
          <a:p>
            <a:r>
              <a:t>if it keeps the real correlations. All three need random numbers that</a:t>
            </a:r>
          </a:p>
          <a:p>
            <a:r>
              <a:t>move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Before any math, here are three places where correlated randomness</a:t>
            </a:r>
          </a:p>
          <a:p>
            <a:r>
              <a:t>matters. A bank simulating a portfolio underestimates its risk if it</a:t>
            </a:r>
          </a:p>
          <a:p>
            <a:r>
              <a:t>treats the stocks as independent. A random smooth curve is really one</a:t>
            </a:r>
          </a:p>
          <a:p>
            <a:r>
              <a:t>draw from a 60 dimensional normal, and synthetic data is only useful</a:t>
            </a:r>
          </a:p>
          <a:p>
            <a:r>
              <a:t>if it keeps the real correlations. All three need random numbers that</a:t>
            </a:r>
          </a:p>
          <a:p>
            <a:r>
              <a:t>move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Here's what a computer gives us for free. One line of numpy and we</a:t>
            </a:r>
          </a:p>
          <a:p>
            <a:r>
              <a:t>get 800 rows, and each row is a point. Every draw is independent,</a:t>
            </a:r>
          </a:p>
          <a:p>
            <a:r>
              <a:t>and the two columns have nothing to do with each other, so the</a:t>
            </a:r>
          </a:p>
          <a:p>
            <a:r>
              <a:t>correlation is zero and the cloud is round. The rest of this talk is</a:t>
            </a:r>
          </a:p>
          <a:p>
            <a:r>
              <a:t>about mixing those two columns together.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What we actually want is a multivariate normal with a mean vector mu</a:t>
            </a:r>
          </a:p>
          <a:p>
            <a:r>
              <a:t>and a covariance matrix Sigma. Mu is the center of the cloud. The</a:t>
            </a:r>
          </a:p>
          <a:p>
            <a:r>
              <a:t>diagonal of Sigma holds the variances, how spread out each variable</a:t>
            </a:r>
          </a:p>
          <a:p>
            <a:r>
              <a:t>is, and the off-diagonal entry is the covariance, how the two move</a:t>
            </a:r>
          </a:p>
          <a:p>
            <a:r>
              <a:t>together. How we made this cloud is the rest of the talk.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What we actually want is a multivariate normal with a mean vector mu</a:t>
            </a:r>
          </a:p>
          <a:p>
            <a:r>
              <a:t>and a covariance matrix Sigma. Mu is the center of the cloud. The</a:t>
            </a:r>
          </a:p>
          <a:p>
            <a:r>
              <a:t>diagonal of Sigma holds the variances, how spread out each variable</a:t>
            </a:r>
          </a:p>
          <a:p>
            <a:r>
              <a:t>is, and the off-diagonal entry is the covariance, how the two move</a:t>
            </a:r>
          </a:p>
          <a:p>
            <a:r>
              <a:t>together. How we made this cloud is the rest of the talk.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This formula looks scary, but you already know it. Here's the 1D</a:t>
            </a:r>
          </a:p>
          <a:p>
            <a:r>
              <a:t>bell curve, and if I rearrange it a little, it has exactly the same</a:t>
            </a:r>
          </a:p>
          <a:p>
            <a:r>
              <a:t>shape as the multivariate one. Numbers become vectors, σ² becomes Σ,</a:t>
            </a:r>
          </a:p>
          <a:p>
            <a:r>
              <a:t>and dividing becomes multiplying by an inverse. The only genuinely</a:t>
            </a:r>
          </a:p>
          <a:p>
            <a:r>
              <a:t>new idea is the distance term: it measures distance in units of</a:t>
            </a:r>
          </a:p>
          <a:p>
            <a:r>
              <a:t>spread, so a point along the long axis counts as closer than one the</a:t>
            </a:r>
          </a:p>
          <a:p>
            <a:r>
              <a:t>same ruler distance along the short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 here is the whole problem in one picture. On the left is the</a:t>
            </a:r>
          </a:p>
          <a:p>
            <a:r>
              <a:t>round cloud a computer gives us, and on the right is the tilted cloud</a:t>
            </a:r>
          </a:p>
          <a:p>
            <a:r>
              <a:t>we want, drawn to the same scale. The question for the rest of the</a:t>
            </a:r>
          </a:p>
          <a:p>
            <a:r>
              <a:t>talk is how to turn one into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start with something we already know. We want a normal with</a:t>
            </a:r>
          </a:p>
          <a:p>
            <a:r>
              <a:t>mean 3 and variance 4. The obvious</a:t>
            </a:r>
          </a:p>
          <a:p>
            <a:r>
              <a:t>move is to multiply by 4, but the curve</a:t>
            </a:r>
          </a:p>
          <a:p>
            <a:r>
              <a:t>overshoots and the variance jumps to 16,</a:t>
            </a:r>
          </a:p>
          <a:p>
            <a:r>
              <a:t>because stretching by a multiplies the variance by a squared. So we</a:t>
            </a:r>
          </a:p>
          <a:p>
            <a:r>
              <a:t>stretch by the square root of 4, which is</a:t>
            </a:r>
          </a:p>
          <a:p>
            <a:r>
              <a:t>2, then shift by 3. To get</a:t>
            </a:r>
          </a:p>
          <a:p>
            <a:r>
              <a:t>variance sigma squared, you scale by its square root.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go up a dimension. The variance is no longer one number, it's a</a:t>
            </a:r>
          </a:p>
          <a:p>
            <a:r>
              <a:t>whole matrix. If we make the same mistake as before and multiply by</a:t>
            </a:r>
          </a:p>
          <a:p>
            <a:r>
              <a:t>Σ, we get Σ squared. And taking the square root of each entry fails</a:t>
            </a:r>
          </a:p>
          <a:p>
            <a:r>
              <a:t>too. So what does the square root of a matrix even mean?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go up a dimension. The variance is no longer one number, it's a</a:t>
            </a:r>
          </a:p>
          <a:p>
            <a:r>
              <a:t>whole matrix. If we make the same mistake as before and multiply by</a:t>
            </a:r>
          </a:p>
          <a:p>
            <a:r>
              <a:t>Σ, we get Σ squared. And taking the square root of each entry fails</a:t>
            </a:r>
          </a:p>
          <a:p>
            <a:r>
              <a:t>too. So what does the square root of a matrix even mean?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go up a dimension. The variance is no longer one number, it's a</a:t>
            </a:r>
          </a:p>
          <a:p>
            <a:r>
              <a:t>whole matrix. If we make the same mistake as before and multiply by</a:t>
            </a:r>
          </a:p>
          <a:p>
            <a:r>
              <a:t>Σ, we get Σ squared. And taking the square root of each entry fails</a:t>
            </a:r>
          </a:p>
          <a:p>
            <a:r>
              <a:t>too. So what does the square root of a matrix even mean?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solution. We will work out what a matrix does to the spread</a:t>
            </a:r>
          </a:p>
          <a:p>
            <a:r>
              <a:t>of the data, use that to define the square root of a matrix, compute</a:t>
            </a:r>
          </a:p>
          <a:p>
            <a:r>
              <a:t>it by hand, and turn it into a four line algorithm.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name our characters. z is the random point we start with, A is</a:t>
            </a:r>
          </a:p>
          <a:p>
            <a:r>
              <a:t>the matrix we multiply by, and x is the point we get out. Each new</a:t>
            </a:r>
          </a:p>
          <a:p>
            <a:r>
              <a:t>variable is a mix of z₁ and z₂, independent spreads add, and</a:t>
            </a:r>
          </a:p>
          <a:p>
            <a:r>
              <a:t>covariance only comes from shared ingredients. Put those in a matrix</a:t>
            </a:r>
          </a:p>
          <a:p>
            <a:r>
              <a:t>and it's exactly A times A transpose, the nD version of 'scaling by a</a:t>
            </a:r>
          </a:p>
          <a:p>
            <a:r>
              <a:t>multiplies variance by a²'. So the real question is: what A gives</a:t>
            </a:r>
          </a:p>
          <a:p>
            <a:r>
              <a:t>A Aᵀ = Σ?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 a square root of Σ means any matrix A with A A transpose equal to</a:t>
            </a:r>
          </a:p>
          <a:p>
            <a:r>
              <a:t>Σ, just like σ times σ is σ² in one dimension. But it is not unique.</a:t>
            </a:r>
          </a:p>
          <a:p>
            <a:r>
              <a:t>If we rotate the round cloud first, it still looks exactly the same,</a:t>
            </a:r>
          </a:p>
          <a:p>
            <a:r>
              <a:t>so A times any rotation Q works too. We need a rule to pick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So a square root of Σ means any matrix A with A A transpose equal to</a:t>
            </a:r>
          </a:p>
          <a:p>
            <a:r>
              <a:t>Σ, just like σ times σ is σ² in one dimension. But it is not unique.</a:t>
            </a:r>
          </a:p>
          <a:p>
            <a:r>
              <a:t>If we rotate the round cloud first, it still looks exactly the same,</a:t>
            </a:r>
          </a:p>
          <a:p>
            <a:r>
              <a:t>so A times any rotation Q works too. We need a rule to pick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 is the rule. Force the top-right entry of A to zero, and the</a:t>
            </a:r>
          </a:p>
          <a:p>
            <a:r>
              <a:t>three equations untangle: the first gives a, then the third gives c,</a:t>
            </a:r>
          </a:p>
          <a:p>
            <a:r>
              <a:t>then the second gives d. That triangular A is the Cholesky factor,</a:t>
            </a:r>
          </a:p>
          <a:p>
            <a:r>
              <a:t>and from now on we call it G. It is unique, it exists exactly when Σ</a:t>
            </a:r>
          </a:p>
          <a:p>
            <a:r>
              <a:t>is positive definite, and it is fast. And note the test is G times G</a:t>
            </a:r>
          </a:p>
          <a:p>
            <a:r>
              <a:t>transpose, not G times 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 is the rule. Force the top-right entry of A to zero, and the</a:t>
            </a:r>
          </a:p>
          <a:p>
            <a:r>
              <a:t>three equations untangle: the first gives a, then the third gives c,</a:t>
            </a:r>
          </a:p>
          <a:p>
            <a:r>
              <a:t>then the second gives d. That triangular A is the Cholesky factor,</a:t>
            </a:r>
          </a:p>
          <a:p>
            <a:r>
              <a:t>and from now on we call it G. It is unique, it exists exactly when Σ</a:t>
            </a:r>
          </a:p>
          <a:p>
            <a:r>
              <a:t>is positive definite, and it is fast. And note the test is G times G</a:t>
            </a:r>
          </a:p>
          <a:p>
            <a:r>
              <a:t>transpose, not G times 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 is the rule. Force the top-right entry of A to zero, and the</a:t>
            </a:r>
          </a:p>
          <a:p>
            <a:r>
              <a:t>three equations untangle: the first gives a, then the third gives c,</a:t>
            </a:r>
          </a:p>
          <a:p>
            <a:r>
              <a:t>then the second gives d. That triangular A is the Cholesky factor,</a:t>
            </a:r>
          </a:p>
          <a:p>
            <a:r>
              <a:t>and from now on we call it G. It is unique, it exists exactly when Σ</a:t>
            </a:r>
          </a:p>
          <a:p>
            <a:r>
              <a:t>is positive definite, and it is fast. And note the test is G times G</a:t>
            </a:r>
          </a:p>
          <a:p>
            <a:r>
              <a:t>transpose, not G times 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 is the rule. Force the top-right entry of A to zero, and the</a:t>
            </a:r>
          </a:p>
          <a:p>
            <a:r>
              <a:t>three equations untangle: the first gives a, then the third gives c,</a:t>
            </a:r>
          </a:p>
          <a:p>
            <a:r>
              <a:t>then the second gives d. That triangular A is the Cholesky factor,</a:t>
            </a:r>
          </a:p>
          <a:p>
            <a:r>
              <a:t>and from now on we call it G. It is unique, it exists exactly when Σ</a:t>
            </a:r>
          </a:p>
          <a:p>
            <a:r>
              <a:t>is positive definite, and it is fast. And note the test is G times G</a:t>
            </a:r>
          </a:p>
          <a:p>
            <a:r>
              <a:t>transpose, not G times 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Here is the rule. Force the top-right entry of A to zero, and the</a:t>
            </a:r>
          </a:p>
          <a:p>
            <a:r>
              <a:t>three equations untangle: the first gives a, then the third gives c,</a:t>
            </a:r>
          </a:p>
          <a:p>
            <a:r>
              <a:t>then the second gives d. That triangular A is the Cholesky factor,</a:t>
            </a:r>
          </a:p>
          <a:p>
            <a:r>
              <a:t>and from now on we call it G. It is unique, it exists exactly when Σ</a:t>
            </a:r>
          </a:p>
          <a:p>
            <a:r>
              <a:t>is positive definite, and it is fast. And note the test is G times G</a:t>
            </a:r>
          </a:p>
          <a:p>
            <a:r>
              <a:t>transpose, not G times 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already know how to factor a matrix: Gaussian elimination. Each</a:t>
            </a:r>
          </a:p>
          <a:p>
            <a:r>
              <a:t>step subtracts a multiple of one row from another. We record those</a:t>
            </a:r>
          </a:p>
          <a:p>
            <a:r>
              <a:t>multipliers in L, and what's left is 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already know how to factor a matrix: Gaussian elimination. Each</a:t>
            </a:r>
          </a:p>
          <a:p>
            <a:r>
              <a:t>step subtracts a multiple of one row from another. We record those</a:t>
            </a:r>
          </a:p>
          <a:p>
            <a:r>
              <a:t>multipliers in L, and what's left is 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already know how to factor a matrix: Gaussian elimination. Each</a:t>
            </a:r>
          </a:p>
          <a:p>
            <a:r>
              <a:t>step subtracts a multiple of one row from another. We record those</a:t>
            </a:r>
          </a:p>
          <a:p>
            <a:r>
              <a:t>multipliers in L, and what's left is 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already know how to factor a matrix: Gaussian elimination. Each</a:t>
            </a:r>
          </a:p>
          <a:p>
            <a:r>
              <a:t>step subtracts a multiple of one row from another. We record those</a:t>
            </a:r>
          </a:p>
          <a:p>
            <a:r>
              <a:t>multipliers in L, and what's left is 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already know how to factor a matrix: Gaussian elimination. Each</a:t>
            </a:r>
          </a:p>
          <a:p>
            <a:r>
              <a:t>step subtracts a multiple of one row from another. We record those</a:t>
            </a:r>
          </a:p>
          <a:p>
            <a:r>
              <a:t>multipliers in L, and what's left is 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U's diagonal holds the pivots. If we pull them out into a diagonal</a:t>
            </a:r>
          </a:p>
          <a:p>
            <a:r>
              <a:t>matrix D, we get L D V.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U's diagonal holds the pivots. If we pull them out into a diagonal</a:t>
            </a:r>
          </a:p>
          <a:p>
            <a:r>
              <a:t>matrix D, we get L D V.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Because Σ is symmetric, V turns out to be exactly L transposed. So</a:t>
            </a:r>
          </a:p>
          <a:p>
            <a:r>
              <a:t>Σ = L D Lᵀ.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Because Σ is symmetric, V turns out to be exactly L transposed. So</a:t>
            </a:r>
          </a:p>
          <a:p>
            <a:r>
              <a:t>Σ = L D Lᵀ.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Because Σ is symmetric, V turns out to be exactly L transposed. So</a:t>
            </a:r>
          </a:p>
          <a:p>
            <a:r>
              <a:t>Σ = L D Lᵀ.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trick: split D into two square roots and give one to each</a:t>
            </a:r>
          </a:p>
          <a:p>
            <a:r>
              <a:t>side. L √D is our G, and Σ = G Gᵀ. That's Cholesky. It needs every</a:t>
            </a:r>
          </a:p>
          <a:p>
            <a:r>
              <a:t>pivot to be strictly positive, which is exactly the positive definite</a:t>
            </a:r>
          </a:p>
          <a:p>
            <a:r>
              <a:t>condition.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trick: split D into two square roots and give one to each</a:t>
            </a:r>
          </a:p>
          <a:p>
            <a:r>
              <a:t>side. L √D is our G, and Σ = G Gᵀ. That's Cholesky. It needs every</a:t>
            </a:r>
          </a:p>
          <a:p>
            <a:r>
              <a:t>pivot to be strictly positive, which is exactly the positive definite</a:t>
            </a:r>
          </a:p>
          <a:p>
            <a:r>
              <a:t>condition.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trick: split D into two square roots and give one to each</a:t>
            </a:r>
          </a:p>
          <a:p>
            <a:r>
              <a:t>side. L √D is our G, and Σ = G Gᵀ. That's Cholesky. It needs every</a:t>
            </a:r>
          </a:p>
          <a:p>
            <a:r>
              <a:t>pivot to be strictly positive, which is exactly the positive definite</a:t>
            </a:r>
          </a:p>
          <a:p>
            <a:r>
              <a:t>condition.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trick: split D into two square roots and give one to each</a:t>
            </a:r>
          </a:p>
          <a:p>
            <a:r>
              <a:t>side. L √D is our G, and Σ = G Gᵀ. That's Cholesky. It needs every</a:t>
            </a:r>
          </a:p>
          <a:p>
            <a:r>
              <a:t>pivot to be strictly positive, which is exactly the positive definite</a:t>
            </a:r>
          </a:p>
          <a:p>
            <a:r>
              <a:t>condition.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the trick: split D into two square roots and give one to each</a:t>
            </a:r>
          </a:p>
          <a:p>
            <a:r>
              <a:t>side. L √D is our G, and Σ = G Gᵀ. That's Cholesky. It needs every</a:t>
            </a:r>
          </a:p>
          <a:p>
            <a:r>
              <a:t>pivot to be strictly positive, which is exactly the positive definite</a:t>
            </a:r>
          </a:p>
          <a:p>
            <a:r>
              <a:t>condition.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In practice, you skip the detour and solve for G directly, column by</a:t>
            </a:r>
          </a:p>
          <a:p>
            <a:r>
              <a:t>column. Same numbers, and the general formula is just that pattern</a:t>
            </a:r>
          </a:p>
          <a:p>
            <a:r>
              <a:t>written 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In practice, you skip the detour and solve for G directly, column by</a:t>
            </a:r>
          </a:p>
          <a:p>
            <a:r>
              <a:t>column. Same numbers, and the general formula is just that pattern</a:t>
            </a:r>
          </a:p>
          <a:p>
            <a:r>
              <a:t>written 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In practice, you skip the detour and solve for G directly, column by</a:t>
            </a:r>
          </a:p>
          <a:p>
            <a:r>
              <a:t>column. Same numbers, and the general formula is just that pattern</a:t>
            </a:r>
          </a:p>
          <a:p>
            <a:r>
              <a:t>written 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Back to our 2 by 2, where G is 2, 0, 1, 2. The whole algorithm is</a:t>
            </a:r>
          </a:p>
          <a:p>
            <a:r>
              <a:t>four lines: choose μ and Σ, factor Σ, draw independent normals, and</a:t>
            </a:r>
          </a:p>
          <a:p>
            <a:r>
              <a:t>compute μ plus G z. Watch the grid: G shears the whole plane, the</a:t>
            </a:r>
          </a:p>
          <a:p>
            <a:r>
              <a:t>circle becomes an ellipse, and then everything shifts by μ. Our</a:t>
            </a:r>
          </a:p>
          <a:p>
            <a:r>
              <a:t>tracked point lands exactly at 2, 0.5, and in NumPy it is three lines.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Back to our 2 by 2, where G is 2, 0, 1, 2. The whole algorithm is</a:t>
            </a:r>
          </a:p>
          <a:p>
            <a:r>
              <a:t>four lines: choose μ and Σ, factor Σ, draw independent normals, and</a:t>
            </a:r>
          </a:p>
          <a:p>
            <a:r>
              <a:t>compute μ plus G z. Watch the grid: G shears the whole plane, the</a:t>
            </a:r>
          </a:p>
          <a:p>
            <a:r>
              <a:t>circle becomes an ellipse, and then everything shifts by μ. Our</a:t>
            </a:r>
          </a:p>
          <a:p>
            <a:r>
              <a:t>tracked point lands exactly at 2, 0.5, and in NumPy it is three lines.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Back to our 2 by 2, where G is 2, 0, 1, 2. The whole algorithm is</a:t>
            </a:r>
          </a:p>
          <a:p>
            <a:r>
              <a:t>four lines: choose μ and Σ, factor Σ, draw independent normals, and</a:t>
            </a:r>
          </a:p>
          <a:p>
            <a:r>
              <a:t>compute μ plus G z. Watch the grid: G shears the whole plane, the</a:t>
            </a:r>
          </a:p>
          <a:p>
            <a:r>
              <a:t>circle becomes an ellipse, and then everything shifts by μ. Our</a:t>
            </a:r>
          </a:p>
          <a:p>
            <a:r>
              <a:t>tracked point lands exactly at 2, 0.5, and in NumPy it is three lines.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Back to our 2 by 2, where G is 2, 0, 1, 2. The whole algorithm is</a:t>
            </a:r>
          </a:p>
          <a:p>
            <a:r>
              <a:t>four lines: choose μ and Σ, factor Σ, draw independent normals, and</a:t>
            </a:r>
          </a:p>
          <a:p>
            <a:r>
              <a:t>compute μ plus G z. Watch the grid: G shears the whole plane, the</a:t>
            </a:r>
          </a:p>
          <a:p>
            <a:r>
              <a:t>circle becomes an ellipse, and then everything shifts by μ. Our</a:t>
            </a:r>
          </a:p>
          <a:p>
            <a:r>
              <a:t>tracked point lands exactly at 2, 0.5, and in NumPy it is three lines.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Back to our 2 by 2, where G is 2, 0, 1, 2. The whole algorithm is</a:t>
            </a:r>
          </a:p>
          <a:p>
            <a:r>
              <a:t>four lines: choose μ and Σ, factor Σ, draw independent normals, and</a:t>
            </a:r>
          </a:p>
          <a:p>
            <a:r>
              <a:t>compute μ plus G z. Watch the grid: G shears the whole plane, the</a:t>
            </a:r>
          </a:p>
          <a:p>
            <a:r>
              <a:t>circle becomes an ellipse, and then everything shifts by μ. Our</a:t>
            </a:r>
          </a:p>
          <a:p>
            <a:r>
              <a:t>tracked point lands exactly at 2, 0.5, and in NumPy it is three lines.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The sampler is built, so let's put it to work. This section is part</a:t>
            </a:r>
          </a:p>
          <a:p>
            <a:r>
              <a:t>b of the brief: we check that it really produces Sigma, then turn</a:t>
            </a:r>
          </a:p>
          <a:p>
            <a:r>
              <a:t>the dial on Sigma and watch the data respond.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built a sampler, but does it really produce the Sigma we asked</a:t>
            </a:r>
          </a:p>
          <a:p>
            <a:r>
              <a:t>for? Measured from 20,000 samples, the mean and covariance</a:t>
            </a:r>
          </a:p>
          <a:p>
            <a:r>
              <a:t>match the targets to about two decimal places, and the dots fill the</a:t>
            </a:r>
          </a:p>
          <a:p>
            <a:r>
              <a:t>1 and 2 sigma contours just as the density predicts. The 3 by 3 G we</a:t>
            </a:r>
          </a:p>
          <a:p>
            <a:r>
              <a:t>computed by hand in 2.4 passes the same test.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built a sampler, but does it really produce the Sigma we asked</a:t>
            </a:r>
          </a:p>
          <a:p>
            <a:r>
              <a:t>for? Measured from 20,000 samples, the mean and covariance</a:t>
            </a:r>
          </a:p>
          <a:p>
            <a:r>
              <a:t>match the targets to about two decimal places, and the dots fill the</a:t>
            </a:r>
          </a:p>
          <a:p>
            <a:r>
              <a:t>1 and 2 sigma contours just as the density predicts. The 3 by 3 G we</a:t>
            </a:r>
          </a:p>
          <a:p>
            <a:r>
              <a:t>computed by hand in 2.4 passes the same test.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built a sampler, but does it really produce the Sigma we asked</a:t>
            </a:r>
          </a:p>
          <a:p>
            <a:r>
              <a:t>for? Measured from 20,000 samples, the mean and covariance</a:t>
            </a:r>
          </a:p>
          <a:p>
            <a:r>
              <a:t>match the targets to about two decimal places, and the dots fill the</a:t>
            </a:r>
          </a:p>
          <a:p>
            <a:r>
              <a:t>1 and 2 sigma contours just as the density predicts. The 3 by 3 G we</a:t>
            </a:r>
          </a:p>
          <a:p>
            <a:r>
              <a:t>computed by hand in 2.4 passes the same test.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 built a sampler, but does it really produce the Sigma we asked</a:t>
            </a:r>
          </a:p>
          <a:p>
            <a:r>
              <a:t>for? Measured from 20,000 samples, the mean and covariance</a:t>
            </a:r>
          </a:p>
          <a:p>
            <a:r>
              <a:t>match the targets to about two decimal places, and the dots fill the</a:t>
            </a:r>
          </a:p>
          <a:p>
            <a:r>
              <a:t>1 and 2 sigma contours just as the density predicts. The 3 by 3 G we</a:t>
            </a:r>
          </a:p>
          <a:p>
            <a:r>
              <a:t>computed by hand in 2.4 passes the same test.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Now we trust the machine, so let's feed it different Sigmas. Every</a:t>
            </a:r>
          </a:p>
          <a:p>
            <a:r>
              <a:t>panel starts from exactly the same z, so the only thing changing is</a:t>
            </a:r>
          </a:p>
          <a:p>
            <a:r>
              <a:t>G. The identity does nothing, a diagonal G stretches each axis by a</a:t>
            </a:r>
          </a:p>
          <a:p>
            <a:r>
              <a:t>square root, and an off-diagonal entry shears the grid and tilts the</a:t>
            </a:r>
          </a:p>
          <a:p>
            <a:r>
              <a:t>cloud one way or the other.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Cholesky told us how to build this cloud. Eigenvectors tell us how</a:t>
            </a:r>
          </a:p>
          <a:p>
            <a:r>
              <a:t>to read it. Most arrows turn when I multiply them by Sigma, but two</a:t>
            </a:r>
          </a:p>
          <a:p>
            <a:r>
              <a:t>directions only stretch: the diagonal by 9 and the other diagonal by</a:t>
            </a:r>
          </a:p>
          <a:p>
            <a:r>
              <a:t>1. Their square roots, 3 and 1, are exactly how spread out the cloud</a:t>
            </a:r>
          </a:p>
          <a:p>
            <a:r>
              <a:t>is along each axis.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Let's run the same machine from 2.4 while turning rho up.</a:t>
            </a:r>
          </a:p>
          <a:p>
            <a:r>
              <a:t>Elimination leaves a second pivot of 1 minus rho squared, and its</a:t>
            </a:r>
          </a:p>
          <a:p>
            <a:r>
              <a:t>square root is the only entry in G that gives the cloud any</a:t>
            </a:r>
          </a:p>
          <a:p>
            <a:r>
              <a:t>thickness. At exactly rho equals 1 the pivot hits zero, x2 is just a</a:t>
            </a:r>
          </a:p>
          <a:p>
            <a:r>
              <a:t>copy of x1, and NumPy refuses to factor it. Push past 1 and the</a:t>
            </a:r>
          </a:p>
          <a:p>
            <a:r>
              <a:t>pivot goes negative: there's no square root at all, because no real</a:t>
            </a:r>
          </a:p>
          <a:p>
            <a:r>
              <a:t>data could have that covariance.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To finish, a quick recap, a second look at the smooth curves from</a:t>
            </a:r>
          </a:p>
          <a:p>
            <a:r>
              <a:t>the start, and the limits of the method.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To recap: we start from independent noise that any computer can</a:t>
            </a:r>
          </a:p>
          <a:p>
            <a:r>
              <a:t>produce, factor our chosen Sigma into G times G transpose, and apply</a:t>
            </a:r>
          </a:p>
          <a:p>
            <a:r>
              <a:t>x equals mu plus G z. The result has exactly the correlation</a:t>
            </a:r>
          </a:p>
          <a:p>
            <a:r>
              <a:t>structure we asked for.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Remember the smooth random curves from the very start? Now we can</a:t>
            </a:r>
          </a:p>
          <a:p>
            <a:r>
              <a:t>say exactly what happened. Each jagged row of 60</a:t>
            </a:r>
          </a:p>
          <a:p>
            <a:r>
              <a:t>independent values is z, and multiplying by G, the Cholesky factor</a:t>
            </a:r>
          </a:p>
          <a:p>
            <a:r>
              <a:t>of the kernel, mixes neighbouring points together so the curve comes</a:t>
            </a:r>
          </a:p>
          <a:p>
            <a:r>
              <a:t>out smooth. It is the same x equals G z, just in 60</a:t>
            </a:r>
          </a:p>
          <a:p>
            <a:r>
              <a:t>dimensions instead of 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Three limits. First, Cholesky needs every pivot strictly positive;</a:t>
            </a:r>
          </a:p>
          <a:p>
            <a:r>
              <a:t>at rho equal to 1 the pivot hit zero and it stopped. Second, the</a:t>
            </a:r>
          </a:p>
          <a:p>
            <a:r>
              <a:t>eigen square root from the eigen view still works there, because</a:t>
            </a:r>
          </a:p>
          <a:p>
            <a:r>
              <a:t>the square root of a zero eigenvalue is just zero, which is why</a:t>
            </a:r>
          </a:p>
          <a:p>
            <a:r>
              <a:t>NumPy's multivariate normal uses SVD by default, even though it is</a:t>
            </a:r>
          </a:p>
          <a:p>
            <a:r>
              <a:t>slower. Third, this only makes Gaussian data, and real returns have</a:t>
            </a:r>
          </a:p>
          <a:p>
            <a:r>
              <a:t>fat tails, but the usual fixes, like multivariate t and Gaussian</a:t>
            </a:r>
          </a:p>
          <a:p>
            <a:r>
              <a:t>copulas, still get their correlation from the same x equals mu plus G z.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Three limits. First, Cholesky needs every pivot strictly positive;</a:t>
            </a:r>
          </a:p>
          <a:p>
            <a:r>
              <a:t>at rho equal to 1 the pivot hit zero and it stopped. Second, the</a:t>
            </a:r>
          </a:p>
          <a:p>
            <a:r>
              <a:t>eigen square root from the eigen view still works there, because</a:t>
            </a:r>
          </a:p>
          <a:p>
            <a:r>
              <a:t>the square root of a zero eigenvalue is just zero, which is why</a:t>
            </a:r>
          </a:p>
          <a:p>
            <a:r>
              <a:t>NumPy's multivariate normal uses SVD by default, even though it is</a:t>
            </a:r>
          </a:p>
          <a:p>
            <a:r>
              <a:t>slower. Third, this only makes Gaussian data, and real returns have</a:t>
            </a:r>
          </a:p>
          <a:p>
            <a:r>
              <a:t>fat tails, but the usual fixes, like multivariate t and Gaussian</a:t>
            </a:r>
          </a:p>
          <a:p>
            <a:r>
              <a:t>copulas, still get their correlation from the same x equals mu plus G z.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Three limits. First, Cholesky needs every pivot strictly positive;</a:t>
            </a:r>
          </a:p>
          <a:p>
            <a:r>
              <a:t>at rho equal to 1 the pivot hit zero and it stopped. Second, the</a:t>
            </a:r>
          </a:p>
          <a:p>
            <a:r>
              <a:t>eigen square root from the eigen view still works there, because</a:t>
            </a:r>
          </a:p>
          <a:p>
            <a:r>
              <a:t>the square root of a zero eigenvalue is just zero, which is why</a:t>
            </a:r>
          </a:p>
          <a:p>
            <a:r>
              <a:t>NumPy's multivariate normal uses SVD by default, even though it is</a:t>
            </a:r>
          </a:p>
          <a:p>
            <a:r>
              <a:t>slower. Third, this only makes Gaussian data, and real returns have</a:t>
            </a:r>
          </a:p>
          <a:p>
            <a:r>
              <a:t>fat tails, but the usual fixes, like multivariate t and Gaussian</a:t>
            </a:r>
          </a:p>
          <a:p>
            <a:r>
              <a:t>copulas, still get their correlation from the same x equals mu plus G z.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Thank you for listening. We are happy to take any questions, and we</a:t>
            </a:r>
          </a:p>
          <a:p>
            <a:r>
              <a:t>can jump back to any slide if it helps.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backup slide, in case anyone asks where the density formula comes</a:t>
            </a:r>
          </a:p>
          <a:p>
            <a:r>
              <a:t>from. If we run x equals mu plus G z backwards with the change of</a:t>
            </a:r>
          </a:p>
          <a:p>
            <a:r>
              <a:t>variables formula, the determinant of G gives the square root of</a:t>
            </a:r>
          </a:p>
          <a:p>
            <a:r>
              <a:t>the determinant of Sigma, and the squared length of z becomes the</a:t>
            </a:r>
          </a:p>
          <a:p>
            <a:r>
              <a:t>quadratic form. That is exactly the density from slide 1.4, and at</a:t>
            </a:r>
          </a:p>
          <a:p>
            <a:r>
              <a:t>our worked point both sides give the same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backup slide, in case anyone asks where the density formula comes</a:t>
            </a:r>
          </a:p>
          <a:p>
            <a:r>
              <a:t>from. If we run x equals mu plus G z backwards with the change of</a:t>
            </a:r>
          </a:p>
          <a:p>
            <a:r>
              <a:t>variables formula, the determinant of G gives the square root of</a:t>
            </a:r>
          </a:p>
          <a:p>
            <a:r>
              <a:t>the determinant of Sigma, and the squared length of z becomes the</a:t>
            </a:r>
          </a:p>
          <a:p>
            <a:r>
              <a:t>quadratic form. That is exactly the density from slide 1.4, and at</a:t>
            </a:r>
          </a:p>
          <a:p>
            <a:r>
              <a:t>our worked point both sides give the same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backup slide, in case anyone asks where the density formula comes</a:t>
            </a:r>
          </a:p>
          <a:p>
            <a:r>
              <a:t>from. If we run x equals mu plus G z backwards with the change of</a:t>
            </a:r>
          </a:p>
          <a:p>
            <a:r>
              <a:t>variables formula, the determinant of G gives the square root of</a:t>
            </a:r>
          </a:p>
          <a:p>
            <a:r>
              <a:t>the determinant of Sigma, and the squared length of z becomes the</a:t>
            </a:r>
          </a:p>
          <a:p>
            <a:r>
              <a:t>quadratic form. That is exactly the density from slide 1.4, and at</a:t>
            </a:r>
          </a:p>
          <a:p>
            <a:r>
              <a:t>our worked point both sides give the same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backup slide, in case anyone asks where the density formula comes</a:t>
            </a:r>
          </a:p>
          <a:p>
            <a:r>
              <a:t>from. If we run x equals mu plus G z backwards with the change of</a:t>
            </a:r>
          </a:p>
          <a:p>
            <a:r>
              <a:t>variables formula, the determinant of G gives the square root of</a:t>
            </a:r>
          </a:p>
          <a:p>
            <a:r>
              <a:t>the determinant of Sigma, and the squared length of z becomes the</a:t>
            </a:r>
          </a:p>
          <a:p>
            <a:r>
              <a:t>quadratic form. That is exactly the density from slide 1.4, and at</a:t>
            </a:r>
          </a:p>
          <a:p>
            <a:r>
              <a:t>our worked point both sides give the same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 backup slide, in case anyone asks where the density formula comes</a:t>
            </a:r>
          </a:p>
          <a:p>
            <a:r>
              <a:t>from. If we run x equals mu plus G z backwards with the change of</a:t>
            </a:r>
          </a:p>
          <a:p>
            <a:r>
              <a:t>variables formula, the determinant of G gives the square root of</a:t>
            </a:r>
          </a:p>
          <a:p>
            <a:r>
              <a:t>the determinant of Sigma, and the squared length of z becomes the</a:t>
            </a:r>
          </a:p>
          <a:p>
            <a:r>
              <a:t>quadratic form. That is exactly the density from slide 1.4, and at</a:t>
            </a:r>
          </a:p>
          <a:p>
            <a:r>
              <a:t>our worked point both sides give the same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4"/><Relationship Id="rId3" Type="http://schemas.openxmlformats.org/officeDocument/2006/relationships/video" Target="../media/media20.mp4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4"/><Relationship Id="rId3" Type="http://schemas.openxmlformats.org/officeDocument/2006/relationships/video" Target="../media/media21.mp4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4"/><Relationship Id="rId3" Type="http://schemas.openxmlformats.org/officeDocument/2006/relationships/video" Target="../media/media22.mp4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4"/><Relationship Id="rId3" Type="http://schemas.openxmlformats.org/officeDocument/2006/relationships/video" Target="../media/media23.mp4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4"/><Relationship Id="rId3" Type="http://schemas.openxmlformats.org/officeDocument/2006/relationships/video" Target="../media/media24.mp4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4"/><Relationship Id="rId3" Type="http://schemas.openxmlformats.org/officeDocument/2006/relationships/video" Target="../media/media25.mp4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6.mp4"/><Relationship Id="rId3" Type="http://schemas.openxmlformats.org/officeDocument/2006/relationships/video" Target="../media/media26.mp4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7.mp4"/><Relationship Id="rId3" Type="http://schemas.openxmlformats.org/officeDocument/2006/relationships/video" Target="../media/media27.mp4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8.mp4"/><Relationship Id="rId3" Type="http://schemas.openxmlformats.org/officeDocument/2006/relationships/video" Target="../media/media28.mp4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9.mp4"/><Relationship Id="rId3" Type="http://schemas.openxmlformats.org/officeDocument/2006/relationships/video" Target="../media/media29.mp4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0.mp4"/><Relationship Id="rId3" Type="http://schemas.openxmlformats.org/officeDocument/2006/relationships/video" Target="../media/media30.mp4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1.mp4"/><Relationship Id="rId3" Type="http://schemas.openxmlformats.org/officeDocument/2006/relationships/video" Target="../media/media31.mp4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2.mp4"/><Relationship Id="rId3" Type="http://schemas.openxmlformats.org/officeDocument/2006/relationships/video" Target="../media/media32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3.mp4"/><Relationship Id="rId3" Type="http://schemas.openxmlformats.org/officeDocument/2006/relationships/video" Target="../media/media33.mp4"/><Relationship Id="rId4" Type="http://schemas.openxmlformats.org/officeDocument/2006/relationships/image" Target="../media/image32.pn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4.mp4"/><Relationship Id="rId3" Type="http://schemas.openxmlformats.org/officeDocument/2006/relationships/video" Target="../media/media34.mp4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5.mp4"/><Relationship Id="rId3" Type="http://schemas.openxmlformats.org/officeDocument/2006/relationships/video" Target="../media/media35.mp4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6.mp4"/><Relationship Id="rId3" Type="http://schemas.openxmlformats.org/officeDocument/2006/relationships/video" Target="../media/media36.mp4"/><Relationship Id="rId4" Type="http://schemas.openxmlformats.org/officeDocument/2006/relationships/image" Target="../media/image35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7.mp4"/><Relationship Id="rId3" Type="http://schemas.openxmlformats.org/officeDocument/2006/relationships/video" Target="../media/media37.mp4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8.mp4"/><Relationship Id="rId3" Type="http://schemas.openxmlformats.org/officeDocument/2006/relationships/video" Target="../media/media38.mp4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9.mp4"/><Relationship Id="rId3" Type="http://schemas.openxmlformats.org/officeDocument/2006/relationships/video" Target="../media/media39.mp4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0.mp4"/><Relationship Id="rId3" Type="http://schemas.openxmlformats.org/officeDocument/2006/relationships/video" Target="../media/media40.mp4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1.mp4"/><Relationship Id="rId3" Type="http://schemas.openxmlformats.org/officeDocument/2006/relationships/video" Target="../media/media41.mp4"/><Relationship Id="rId4" Type="http://schemas.openxmlformats.org/officeDocument/2006/relationships/image" Target="../media/image40.pn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2.mp4"/><Relationship Id="rId3" Type="http://schemas.openxmlformats.org/officeDocument/2006/relationships/video" Target="../media/media42.mp4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3.mp4"/><Relationship Id="rId3" Type="http://schemas.openxmlformats.org/officeDocument/2006/relationships/video" Target="../media/media43.mp4"/><Relationship Id="rId4" Type="http://schemas.openxmlformats.org/officeDocument/2006/relationships/image" Target="../media/image42.png"/><Relationship Id="rId5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4.mp4"/><Relationship Id="rId3" Type="http://schemas.openxmlformats.org/officeDocument/2006/relationships/video" Target="../media/media44.mp4"/><Relationship Id="rId4" Type="http://schemas.openxmlformats.org/officeDocument/2006/relationships/image" Target="../media/image43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5.mp4"/><Relationship Id="rId3" Type="http://schemas.openxmlformats.org/officeDocument/2006/relationships/video" Target="../media/media45.mp4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6.mp4"/><Relationship Id="rId3" Type="http://schemas.openxmlformats.org/officeDocument/2006/relationships/video" Target="../media/media46.mp4"/><Relationship Id="rId4" Type="http://schemas.openxmlformats.org/officeDocument/2006/relationships/image" Target="../media/image45.png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7.mp4"/><Relationship Id="rId3" Type="http://schemas.openxmlformats.org/officeDocument/2006/relationships/video" Target="../media/media47.mp4"/><Relationship Id="rId4" Type="http://schemas.openxmlformats.org/officeDocument/2006/relationships/image" Target="../media/image46.png"/><Relationship Id="rId5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8.mp4"/><Relationship Id="rId3" Type="http://schemas.openxmlformats.org/officeDocument/2006/relationships/video" Target="../media/media48.mp4"/><Relationship Id="rId4" Type="http://schemas.openxmlformats.org/officeDocument/2006/relationships/image" Target="../media/image47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9.mp4"/><Relationship Id="rId3" Type="http://schemas.openxmlformats.org/officeDocument/2006/relationships/video" Target="../media/media49.mp4"/><Relationship Id="rId4" Type="http://schemas.openxmlformats.org/officeDocument/2006/relationships/image" Target="../media/image48.png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0.mp4"/><Relationship Id="rId3" Type="http://schemas.openxmlformats.org/officeDocument/2006/relationships/video" Target="../media/media50.mp4"/><Relationship Id="rId4" Type="http://schemas.openxmlformats.org/officeDocument/2006/relationships/image" Target="../media/image49.png"/><Relationship Id="rId5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1.mp4"/><Relationship Id="rId3" Type="http://schemas.openxmlformats.org/officeDocument/2006/relationships/video" Target="../media/media51.mp4"/><Relationship Id="rId4" Type="http://schemas.openxmlformats.org/officeDocument/2006/relationships/image" Target="../media/image50.png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2.mp4"/><Relationship Id="rId3" Type="http://schemas.openxmlformats.org/officeDocument/2006/relationships/video" Target="../media/media52.mp4"/><Relationship Id="rId4" Type="http://schemas.openxmlformats.org/officeDocument/2006/relationships/image" Target="../media/image51.png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3.mp4"/><Relationship Id="rId3" Type="http://schemas.openxmlformats.org/officeDocument/2006/relationships/video" Target="../media/media53.mp4"/><Relationship Id="rId4" Type="http://schemas.openxmlformats.org/officeDocument/2006/relationships/image" Target="../media/image52.png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4.mp4"/><Relationship Id="rId3" Type="http://schemas.openxmlformats.org/officeDocument/2006/relationships/video" Target="../media/media54.mp4"/><Relationship Id="rId4" Type="http://schemas.openxmlformats.org/officeDocument/2006/relationships/image" Target="../media/image53.png"/><Relationship Id="rId5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5.mp4"/><Relationship Id="rId3" Type="http://schemas.openxmlformats.org/officeDocument/2006/relationships/video" Target="../media/media55.mp4"/><Relationship Id="rId4" Type="http://schemas.openxmlformats.org/officeDocument/2006/relationships/image" Target="../media/image54.png"/><Relationship Id="rId5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6.mp4"/><Relationship Id="rId3" Type="http://schemas.openxmlformats.org/officeDocument/2006/relationships/video" Target="../media/media56.mp4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7.mp4"/><Relationship Id="rId3" Type="http://schemas.openxmlformats.org/officeDocument/2006/relationships/video" Target="../media/media57.mp4"/><Relationship Id="rId4" Type="http://schemas.openxmlformats.org/officeDocument/2006/relationships/image" Target="../media/image56.png"/><Relationship Id="rId5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8.mp4"/><Relationship Id="rId3" Type="http://schemas.openxmlformats.org/officeDocument/2006/relationships/video" Target="../media/media58.mp4"/><Relationship Id="rId4" Type="http://schemas.openxmlformats.org/officeDocument/2006/relationships/image" Target="../media/image57.png"/><Relationship Id="rId5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9.mp4"/><Relationship Id="rId3" Type="http://schemas.openxmlformats.org/officeDocument/2006/relationships/video" Target="../media/media59.mp4"/><Relationship Id="rId4" Type="http://schemas.openxmlformats.org/officeDocument/2006/relationships/image" Target="../media/image58.png"/><Relationship Id="rId5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0.mp4"/><Relationship Id="rId3" Type="http://schemas.openxmlformats.org/officeDocument/2006/relationships/video" Target="../media/media60.mp4"/><Relationship Id="rId4" Type="http://schemas.openxmlformats.org/officeDocument/2006/relationships/image" Target="../media/image59.png"/><Relationship Id="rId5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1.mp4"/><Relationship Id="rId3" Type="http://schemas.openxmlformats.org/officeDocument/2006/relationships/video" Target="../media/media61.mp4"/><Relationship Id="rId4" Type="http://schemas.openxmlformats.org/officeDocument/2006/relationships/image" Target="../media/image60.png"/><Relationship Id="rId5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2.mp4"/><Relationship Id="rId3" Type="http://schemas.openxmlformats.org/officeDocument/2006/relationships/video" Target="../media/media62.mp4"/><Relationship Id="rId4" Type="http://schemas.openxmlformats.org/officeDocument/2006/relationships/image" Target="../media/image61.png"/><Relationship Id="rId5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3.mp4"/><Relationship Id="rId3" Type="http://schemas.openxmlformats.org/officeDocument/2006/relationships/video" Target="../media/media63.mp4"/><Relationship Id="rId4" Type="http://schemas.openxmlformats.org/officeDocument/2006/relationships/image" Target="../media/image62.png"/><Relationship Id="rId5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4.mp4"/><Relationship Id="rId3" Type="http://schemas.openxmlformats.org/officeDocument/2006/relationships/video" Target="../media/media64.mp4"/><Relationship Id="rId4" Type="http://schemas.openxmlformats.org/officeDocument/2006/relationships/image" Target="../media/image63.png"/><Relationship Id="rId5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5.mp4"/><Relationship Id="rId3" Type="http://schemas.openxmlformats.org/officeDocument/2006/relationships/video" Target="../media/media65.mp4"/><Relationship Id="rId4" Type="http://schemas.openxmlformats.org/officeDocument/2006/relationships/image" Target="../media/image64.png"/><Relationship Id="rId5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6.mp4"/><Relationship Id="rId3" Type="http://schemas.openxmlformats.org/officeDocument/2006/relationships/video" Target="../media/media66.mp4"/><Relationship Id="rId4" Type="http://schemas.openxmlformats.org/officeDocument/2006/relationships/image" Target="../media/image65.png"/><Relationship Id="rId5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7.mp4"/><Relationship Id="rId3" Type="http://schemas.openxmlformats.org/officeDocument/2006/relationships/video" Target="../media/media67.mp4"/><Relationship Id="rId4" Type="http://schemas.openxmlformats.org/officeDocument/2006/relationships/image" Target="../media/image66.png"/><Relationship Id="rId5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8.mp4"/><Relationship Id="rId3" Type="http://schemas.openxmlformats.org/officeDocument/2006/relationships/video" Target="../media/media68.mp4"/><Relationship Id="rId4" Type="http://schemas.openxmlformats.org/officeDocument/2006/relationships/image" Target="../media/image67.png"/><Relationship Id="rId5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9.mp4"/><Relationship Id="rId3" Type="http://schemas.openxmlformats.org/officeDocument/2006/relationships/video" Target="../media/media69.mp4"/><Relationship Id="rId4" Type="http://schemas.openxmlformats.org/officeDocument/2006/relationships/image" Target="../media/image68.png"/><Relationship Id="rId5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0.mp4"/><Relationship Id="rId3" Type="http://schemas.openxmlformats.org/officeDocument/2006/relationships/video" Target="../media/media70.mp4"/><Relationship Id="rId4" Type="http://schemas.openxmlformats.org/officeDocument/2006/relationships/image" Target="../media/image69.png"/><Relationship Id="rId5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1.mp4"/><Relationship Id="rId3" Type="http://schemas.openxmlformats.org/officeDocument/2006/relationships/video" Target="../media/media71.mp4"/><Relationship Id="rId4" Type="http://schemas.openxmlformats.org/officeDocument/2006/relationships/image" Target="../media/image70.png"/><Relationship Id="rId5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2.mp4"/><Relationship Id="rId3" Type="http://schemas.openxmlformats.org/officeDocument/2006/relationships/video" Target="../media/media72.mp4"/><Relationship Id="rId4" Type="http://schemas.openxmlformats.org/officeDocument/2006/relationships/image" Target="../media/image71.png"/><Relationship Id="rId5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3.mp4"/><Relationship Id="rId3" Type="http://schemas.openxmlformats.org/officeDocument/2006/relationships/video" Target="../media/media73.mp4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4.mp4"/><Relationship Id="rId3" Type="http://schemas.openxmlformats.org/officeDocument/2006/relationships/video" Target="../media/media74.mp4"/><Relationship Id="rId4" Type="http://schemas.openxmlformats.org/officeDocument/2006/relationships/image" Target="../media/image73.png"/><Relationship Id="rId5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5.mp4"/><Relationship Id="rId3" Type="http://schemas.openxmlformats.org/officeDocument/2006/relationships/video" Target="../media/media75.mp4"/><Relationship Id="rId4" Type="http://schemas.openxmlformats.org/officeDocument/2006/relationships/image" Target="../media/image74.png"/><Relationship Id="rId5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6.mp4"/><Relationship Id="rId3" Type="http://schemas.openxmlformats.org/officeDocument/2006/relationships/video" Target="../media/media76.mp4"/><Relationship Id="rId4" Type="http://schemas.openxmlformats.org/officeDocument/2006/relationships/image" Target="../media/image75.png"/><Relationship Id="rId5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7.mp4"/><Relationship Id="rId3" Type="http://schemas.openxmlformats.org/officeDocument/2006/relationships/video" Target="../media/media77.mp4"/><Relationship Id="rId4" Type="http://schemas.openxmlformats.org/officeDocument/2006/relationships/image" Target="../media/image76.png"/><Relationship Id="rId5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8.mp4"/><Relationship Id="rId3" Type="http://schemas.openxmlformats.org/officeDocument/2006/relationships/video" Target="../media/media78.mp4"/><Relationship Id="rId4" Type="http://schemas.openxmlformats.org/officeDocument/2006/relationships/image" Target="../media/image77.png"/><Relationship Id="rId5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9.mp4"/><Relationship Id="rId3" Type="http://schemas.openxmlformats.org/officeDocument/2006/relationships/video" Target="../media/media79.mp4"/><Relationship Id="rId4" Type="http://schemas.openxmlformats.org/officeDocument/2006/relationships/image" Target="../media/image78.png"/><Relationship Id="rId5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0.mp4"/><Relationship Id="rId3" Type="http://schemas.openxmlformats.org/officeDocument/2006/relationships/video" Target="../media/media80.mp4"/><Relationship Id="rId4" Type="http://schemas.openxmlformats.org/officeDocument/2006/relationships/image" Target="../media/image79.png"/><Relationship Id="rId5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1.mp4"/><Relationship Id="rId3" Type="http://schemas.openxmlformats.org/officeDocument/2006/relationships/video" Target="../media/media81.mp4"/><Relationship Id="rId4" Type="http://schemas.openxmlformats.org/officeDocument/2006/relationships/image" Target="../media/image80.png"/><Relationship Id="rId5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2.mp4"/><Relationship Id="rId3" Type="http://schemas.openxmlformats.org/officeDocument/2006/relationships/video" Target="../media/media82.mp4"/><Relationship Id="rId4" Type="http://schemas.openxmlformats.org/officeDocument/2006/relationships/image" Target="../media/image81.png"/><Relationship Id="rId5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3.mp4"/><Relationship Id="rId3" Type="http://schemas.openxmlformats.org/officeDocument/2006/relationships/video" Target="../media/media83.mp4"/><Relationship Id="rId4" Type="http://schemas.openxmlformats.org/officeDocument/2006/relationships/image" Target="../media/image82.png"/><Relationship Id="rId5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4.mp4"/><Relationship Id="rId3" Type="http://schemas.openxmlformats.org/officeDocument/2006/relationships/video" Target="../media/media84.mp4"/><Relationship Id="rId4" Type="http://schemas.openxmlformats.org/officeDocument/2006/relationships/image" Target="../media/image83.png"/><Relationship Id="rId5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5.mp4"/><Relationship Id="rId3" Type="http://schemas.openxmlformats.org/officeDocument/2006/relationships/video" Target="../media/media85.mp4"/><Relationship Id="rId4" Type="http://schemas.openxmlformats.org/officeDocument/2006/relationships/image" Target="../media/image84.png"/><Relationship Id="rId5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6.mp4"/><Relationship Id="rId3" Type="http://schemas.openxmlformats.org/officeDocument/2006/relationships/video" Target="../media/media86.mp4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7.mp4"/><Relationship Id="rId3" Type="http://schemas.openxmlformats.org/officeDocument/2006/relationships/video" Target="../media/media87.mp4"/><Relationship Id="rId4" Type="http://schemas.openxmlformats.org/officeDocument/2006/relationships/image" Target="../media/image86.png"/><Relationship Id="rId5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8.mp4"/><Relationship Id="rId3" Type="http://schemas.openxmlformats.org/officeDocument/2006/relationships/video" Target="../media/media88.mp4"/><Relationship Id="rId4" Type="http://schemas.openxmlformats.org/officeDocument/2006/relationships/image" Target="../media/image87.png"/><Relationship Id="rId5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9.mp4"/><Relationship Id="rId3" Type="http://schemas.openxmlformats.org/officeDocument/2006/relationships/video" Target="../media/media89.mp4"/><Relationship Id="rId4" Type="http://schemas.openxmlformats.org/officeDocument/2006/relationships/image" Target="../media/image88.png"/><Relationship Id="rId5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0.mp4"/><Relationship Id="rId3" Type="http://schemas.openxmlformats.org/officeDocument/2006/relationships/video" Target="../media/media90.mp4"/><Relationship Id="rId4" Type="http://schemas.openxmlformats.org/officeDocument/2006/relationships/image" Target="../media/image89.png"/><Relationship Id="rId5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1.mp4"/><Relationship Id="rId3" Type="http://schemas.openxmlformats.org/officeDocument/2006/relationships/video" Target="../media/media91.mp4"/><Relationship Id="rId4" Type="http://schemas.openxmlformats.org/officeDocument/2006/relationships/image" Target="../media/image90.png"/><Relationship Id="rId5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2.mp4"/><Relationship Id="rId3" Type="http://schemas.openxmlformats.org/officeDocument/2006/relationships/video" Target="../media/media92.mp4"/><Relationship Id="rId4" Type="http://schemas.openxmlformats.org/officeDocument/2006/relationships/image" Target="../media/image91.png"/><Relationship Id="rId5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3.mp4"/><Relationship Id="rId3" Type="http://schemas.openxmlformats.org/officeDocument/2006/relationships/video" Target="../media/media93.mp4"/><Relationship Id="rId4" Type="http://schemas.openxmlformats.org/officeDocument/2006/relationships/image" Target="../media/image92.png"/><Relationship Id="rId5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4.mp4"/><Relationship Id="rId3" Type="http://schemas.openxmlformats.org/officeDocument/2006/relationships/video" Target="../media/media94.mp4"/><Relationship Id="rId4" Type="http://schemas.openxmlformats.org/officeDocument/2006/relationships/image" Target="../media/image93.png"/><Relationship Id="rId5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5.mp4"/><Relationship Id="rId3" Type="http://schemas.openxmlformats.org/officeDocument/2006/relationships/video" Target="../media/media95.mp4"/><Relationship Id="rId4" Type="http://schemas.openxmlformats.org/officeDocument/2006/relationships/image" Target="../media/image94.png"/><Relationship Id="rId5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6.mp4"/><Relationship Id="rId3" Type="http://schemas.openxmlformats.org/officeDocument/2006/relationships/video" Target="../media/media96.mp4"/><Relationship Id="rId4" Type="http://schemas.openxmlformats.org/officeDocument/2006/relationships/image" Target="../media/image95.png"/><Relationship Id="rId5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7.mp4"/><Relationship Id="rId3" Type="http://schemas.openxmlformats.org/officeDocument/2006/relationships/video" Target="../media/media97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8.mp4"/><Relationship Id="rId3" Type="http://schemas.openxmlformats.org/officeDocument/2006/relationships/video" Target="../media/media98.mp4"/><Relationship Id="rId4" Type="http://schemas.openxmlformats.org/officeDocument/2006/relationships/image" Target="../media/image96.png"/><Relationship Id="rId5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9.mp4"/><Relationship Id="rId3" Type="http://schemas.openxmlformats.org/officeDocument/2006/relationships/video" Target="../media/media99.mp4"/><Relationship Id="rId4" Type="http://schemas.openxmlformats.org/officeDocument/2006/relationships/image" Target="../media/image97.png"/><Relationship Id="rId5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0.mp4"/><Relationship Id="rId3" Type="http://schemas.openxmlformats.org/officeDocument/2006/relationships/video" Target="../media/media100.mp4"/><Relationship Id="rId4" Type="http://schemas.openxmlformats.org/officeDocument/2006/relationships/image" Target="../media/image98.png"/><Relationship Id="rId5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1.mp4"/><Relationship Id="rId3" Type="http://schemas.openxmlformats.org/officeDocument/2006/relationships/video" Target="../media/media101.mp4"/><Relationship Id="rId4" Type="http://schemas.openxmlformats.org/officeDocument/2006/relationships/image" Target="../media/image99.png"/><Relationship Id="rId5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2.mp4"/><Relationship Id="rId3" Type="http://schemas.openxmlformats.org/officeDocument/2006/relationships/video" Target="../media/media102.mp4"/><Relationship Id="rId4" Type="http://schemas.openxmlformats.org/officeDocument/2006/relationships/image" Target="../media/image100.png"/><Relationship Id="rId5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3.mp4"/><Relationship Id="rId3" Type="http://schemas.openxmlformats.org/officeDocument/2006/relationships/video" Target="../media/media103.mp4"/><Relationship Id="rId4" Type="http://schemas.openxmlformats.org/officeDocument/2006/relationships/image" Target="../media/image101.png"/><Relationship Id="rId5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4.mp4"/><Relationship Id="rId3" Type="http://schemas.openxmlformats.org/officeDocument/2006/relationships/video" Target="../media/media104.mp4"/><Relationship Id="rId4" Type="http://schemas.openxmlformats.org/officeDocument/2006/relationships/image" Target="../media/image102.png"/><Relationship Id="rId5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5.mp4"/><Relationship Id="rId3" Type="http://schemas.openxmlformats.org/officeDocument/2006/relationships/video" Target="../media/media105.mp4"/><Relationship Id="rId4" Type="http://schemas.openxmlformats.org/officeDocument/2006/relationships/image" Target="../media/image103.png"/><Relationship Id="rId5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6.mp4"/><Relationship Id="rId3" Type="http://schemas.openxmlformats.org/officeDocument/2006/relationships/video" Target="../media/media106.mp4"/><Relationship Id="rId4" Type="http://schemas.openxmlformats.org/officeDocument/2006/relationships/image" Target="../media/image104.png"/><Relationship Id="rId5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7.mp4"/><Relationship Id="rId3" Type="http://schemas.openxmlformats.org/officeDocument/2006/relationships/video" Target="../media/media107.mp4"/><Relationship Id="rId4" Type="http://schemas.openxmlformats.org/officeDocument/2006/relationships/image" Target="../media/image105.png"/><Relationship Id="rId5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8.mp4"/><Relationship Id="rId3" Type="http://schemas.openxmlformats.org/officeDocument/2006/relationships/video" Target="../media/media108.mp4"/><Relationship Id="rId4" Type="http://schemas.openxmlformats.org/officeDocument/2006/relationships/image" Target="../media/image106.png"/><Relationship Id="rId5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0d394073cf54d7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0aa2cae4d6ba1a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8900c841a2853b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5c0c9cb7f7859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3caa7dfce86d02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377770417d7016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8c96216cf40018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92cc98e5bedd4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2ee195dce55b0c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6dceb33a58fccf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ef165f455f5461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a3ac5c7cc59b44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e0353b31ead466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5d773ef4f950df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285647f065f4ed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ac658955c04540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91bcdf02114c06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e0d724c417e145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09ff944b34f3fe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11466b2aa2ce6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c8945b0bdc013f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19d38b7217aac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ce90e9b4b75db5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300acf19b1b98f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5bc87f1d209a93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05435061f86865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05a9042c032288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1d99909d7ec110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6b947a873b7922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d116d466b99af3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9c3da7640ab06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0c2ecc433af95b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8e2fada47f70f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80e7f38d741a12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0a9828317232ef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010becc2b731d1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7a0e6f7934f6c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c9513e80495ee3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728763503e8d84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da75128ff6167c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13a29bac7072e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c654fc2cb72d6e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1136cd1261994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ea77e0bb5fcb12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b6faf54ea5e84f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b13e2ab953c8e0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9c88337e763920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e0a228880b97ce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b0ab4d67324c99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63530b02219b7b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944b94025b79cd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3c71793a9aa77d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307521d5f4d4c8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56e7ccecd8c77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3eda6e784a0dfb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75f7eed6dd7c17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cbc513256da49d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d67902898e34b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7b242c8c82b48c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7a6e16ea5503df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e3f417fb826165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fadbb1ec5e057a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ef5bcd198e0f8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e4b126478feefd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f0c50cd7a1c58a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2b251c52634e45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de9d190cff49f3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5e381fdceb6b74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48a8a73abbfdb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ac75e28ac3f8b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e79f6624ab627b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6d032e4ef2b766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c62066b8e6dcd6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34ceb38e86e5b5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aead805eafe3a1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e01806c3c53f69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5eb6e41671d4c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b678626029ed77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b95f5edfa105e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8efb23c39fde8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d71e45bd533358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9d0cdb84eecd1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a2e07d4ba503b1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cb7a6da9cd25a8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11d442cd878f96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e9ae9563f91edf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0ed2ea6621f41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ccc3fb05b48133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bbf2f0f4a77153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fdadeef5a15e43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0a813cad6a7ed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800900a4fb3c00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18d06210c33dfd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0af7a5ec9a914b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8cbc53b53ac67d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2dc201ee34ba8c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7ba5165d9ebc6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c9ab701c365b3a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4e469efbe51f1a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530f0245046564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0e86bd02b20ae1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0d0acbfc19cd62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75a6e2b8d7f8a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09502aefcb1a04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bdd65bb8115ac2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a556647ba1fc48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fae7efdb0189f6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36013c516e22d6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